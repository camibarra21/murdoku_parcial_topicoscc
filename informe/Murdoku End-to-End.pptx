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Camila. Presentarse los tres. Una frase: construimos un sistema que recibe la imagen de un Murdoku, la entiende y la resuelve con un solver de restricciones, sin intervención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Camila. Explicar las reglas con la imagen: a la izquierda las tarjetas con los testimonios, a la derecha el tablero con habitaciones por color y muebles. El objetivo es ubicar a las 6 personas y deducir quién es el asesino.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Camila. Recorrer las cinco etapas. Remarcar que la salida de visión entra directo al solver: no hay pasos manuales y el modelo está parametrizado, no está hardcodeado.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Camila. Explicar por qué se usan las esquinas de la celda: el mueble del centro no contamina el color. CIELAB porque se parece más a la percepción humana que RGB. Las etiquetas leídas por OCR dan el nombre de cada sala, necesario para pistas como "estaba en la Gerencia".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Camila. Lado izquierdo: cómo se reconocen los muebles sin entrenar una red, comparando embeddings. Lado derecho: cómo se leen los testimonios y se traducen a restricciones con reglas deterministas. El LLM queda solo como respaldo y su salida se valida.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Dar las métricas: precisión y recall de muebles, tamaño N, nombres y pistas. Explicar los dos errores: en el caso 04 K-Means agrupa bien, pero el rotulado por color asigna nombres permutados; en el caso 10 la visión ve lo que está dibujado, el error está en la imagen respecto al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Las imágenes del dataset son digitales; generamos 10 variantes de cada caso. El sistema aguanta ruido, compresión, desenfoque y cambios de escala. Falla con poca luz (umbral fijo de detección) y con rotación (falta corrección de perspectiva). Son las mejoras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Presentar las cinco familias de variables con su dominio. Explicar la canalización: se usa una representación booleana de ocupación y se proyecta a enteros, así cada restricción usa la vista más cómoda.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Recorrer C1 a C7. Remarcar las globales: AllDifferent en filas y columnas, codificado como at-most-one que CP-SAT propaga como restricción de cardinalidad, y Element para la sala. La regla del asesino es condicional, por eso necesita reificación.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Lizbeth. Este punto vale en la rúbrica. Dos usos justificados: la regla del asesino, porque es condicional; y las pistas, que con literales permiten al tutor detectar con SufficientAssumptionsForInfeasibility qué ubicación y qué testimonio chocan, sin revelar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Lizbeth. Dar los tiempos y explicar la complejidad: cómo las restricciones reducen el espacio de búsqueda y que CP-SAT resuelve todos los casos sin ramificar. La ablación muestra que varias pistas son redundantes, propio de un acertijo con varias rutas de deducción.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Lizbeth. El crecimiento es polinomial en la práctica, dominado por el tamaño del modelo, de orden N al cubo cuando hay N personas. En el pipeline real el solver es menos del 1 % del tiempo: la visión con OCR tarda unos 2,5 segundos por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Presentan: las tres. Aquí va la demostración en vivo o grabada: cargar la imagen, mostrar lo extraído en la consola, la solución dibujada y la interfaz web con el tutor. Caso 09: la asesina es Irene.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Lizbeth. Cerrar con lo logrado y lo pendiente. Mensaje final: el modelo de CP resuelve en milisegundos; el trabajo futuro está en hacer la visión más robusta.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blero de Murdoku 8x8 resuelto, con la asesina marcada en rojo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620000" y="1209128"/>
            <a:ext cx="3810000" cy="3804745"/>
          </a:xfrm>
          <a:custGeom>
            <a:avLst/>
            <a:gdLst/>
            <a:ahLst/>
            <a:cxnLst/>
            <a:rect l="l" t="t" r="r" b="b"/>
            <a:pathLst>
              <a:path w="3810000" h="3804745">
                <a:moveTo>
                  <a:pt x="0" y="35472"/>
                </a:moveTo>
                <a:arcTo wR="101600" hR="101600" stAng="10800000" swAng="1226076"/>
                <a:lnTo>
                  <a:pt x="3803606" y="0"/>
                </a:lnTo>
                <a:arcTo wR="101600" hR="101600" stAng="20373924" swAng="1226076"/>
                <a:lnTo>
                  <a:pt x="3810000" y="3769272"/>
                </a:lnTo>
                <a:arcTo wR="101600" hR="101600" stAng="0" swAng="1226076"/>
                <a:lnTo>
                  <a:pt x="6394" y="3804745"/>
                </a:lnTo>
                <a:arcTo wR="101600" hR="101600" stAng="9573924" swAng="1226076"/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627888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200" kern="0" dirty="0">
                <a:solidFill>
                  <a:srgbClr val="E895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CC58 · TÓPICOS EN CIENCIA DE LA COMPUTACIÓN · TRABAJO 1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51534"/>
            <a:ext cx="65405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Murdoku End-to-End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594795"/>
            <a:ext cx="654050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 foto del acertijo al asesino: visión computacional + programación con restricciones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5797550"/>
            <a:ext cx="6540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Camila Ibarra Cabrera · Sofia Miranda Cardenas · Lizbeth Olivera Alvarez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acertijo: Sudoku + Cluedo</a:t>
            </a:r>
            <a:endParaRPr lang="en-US" sz="3200" dirty="0"/>
          </a:p>
        </p:txBody>
      </p:sp>
      <p:pic>
        <p:nvPicPr>
          <p:cNvPr id="3" name="Image 0" descr="Imagen del caso La Tienda: seis tarjetas con testimonios y el tablero 6x6 con tres habitaciones">    </p:cNvPr>
          <p:cNvPicPr>
            <a:picLocks noChangeAspect="1"/>
          </p:cNvPicPr>
          <p:nvPr/>
        </p:nvPicPr>
        <p:blipFill>
          <a:blip r:embed="rId1"/>
          <a:srcRect l="-81" r="-81" t="0" b="0"/>
          <a:stretch/>
        </p:blipFill>
        <p:spPr>
          <a:xfrm>
            <a:off x="819150" y="1570930"/>
            <a:ext cx="6083300" cy="3416300"/>
          </a:xfrm>
          <a:prstGeom prst="roundRect">
            <a:avLst>
              <a:gd name="adj" fmla="val 2788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567755"/>
            <a:ext cx="6089650" cy="3422650"/>
          </a:xfrm>
          <a:prstGeom prst="roundRect">
            <a:avLst>
              <a:gd name="adj" fmla="val 2876"/>
            </a:avLst>
          </a:prstGeom>
          <a:noFill/>
          <a:ln w="6350">
            <a:solidFill>
              <a:srgbClr val="D6D0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72858" y="1564580"/>
            <a:ext cx="4120642" cy="201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persona ocupa </a:t>
            </a:r>
            <a:r>
              <a:rPr lang="en-US" sz="16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celda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Nadie comparte </a:t>
            </a:r>
            <a:r>
              <a:rPr lang="en-US" sz="16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 ni columna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pisan mesas, plantas ni laptop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víctima está con </a:t>
            </a:r>
            <a:r>
              <a:rPr lang="en-US" sz="16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</a:t>
            </a: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sospechoso: el asesino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tarjeta da pistas: columna, sala, dirección, muebles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01 «La Tienda» · 6×6 · 3 habitaciones · 5 sospechosos y 1 víctima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pipeline sin intervención manual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69355"/>
            <a:ext cx="1987550" cy="1865312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90113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47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47750" y="223381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609652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.png o .jpg del caso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2275" y="1669355"/>
            <a:ext cx="1987550" cy="1865312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94050" y="190113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47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94050" y="223381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94050" y="2609652"/>
            <a:ext cx="157480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OpenCV, K-Means, MobileNetV3, Tesseract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8575" y="1669355"/>
            <a:ext cx="1987550" cy="1865312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350" y="190113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47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0350" y="223381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0350" y="2609652"/>
            <a:ext cx="157480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Testimonios en español a restricciones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54875" y="1669355"/>
            <a:ext cx="1987550" cy="1865312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6650" y="190113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47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86650" y="223381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CP-SAT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86650" y="2609652"/>
            <a:ext cx="157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OR-Tools y solución única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98000" y="1666180"/>
            <a:ext cx="1981200" cy="1871663"/>
          </a:xfrm>
          <a:prstGeom prst="roundRect">
            <a:avLst>
              <a:gd name="adj" fmla="val 5428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9626600" y="189478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955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26600" y="222746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Solución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26600" y="2603302"/>
            <a:ext cx="157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la imagen, web y tutor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944243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contrato entre fases es un diccionario </a:t>
            </a:r>
            <a:r>
              <a:rPr lang="en-US" sz="160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puzzle_data</a:t>
            </a: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tamaño, personas, mapa de salas, muebles y pistas. El solver no conoce ningún caso concreto.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src/vision.py · src/parser_pistas.py · src/solver.py · src/visualizer.py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Visión I: tablero, celdas y habitaciones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Localizar el tablero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1889621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Gris, umbral inverso y el contorno cuadrado más grande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316262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Estimar 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641302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Contar las líneas negras internas con perfiles de proyección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067943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Agrupar salas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3392984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de las esquinas de cada celda, K-Means en CIELAB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819624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Nombrar salas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144665"/>
            <a:ext cx="6121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OCR de las etiquetas y emparejamiento por matiz (algoritmo húngaro)</a:t>
            </a:r>
            <a:endParaRPr lang="en-US" sz="1400" dirty="0"/>
          </a:p>
        </p:txBody>
      </p:sp>
      <p:pic>
        <p:nvPicPr>
          <p:cNvPr id="11" name="Image 0" descr="Tablero recortado y dividido en 6x6 celdas con líneas blancas">    </p:cNvPr>
          <p:cNvPicPr>
            <a:picLocks noChangeAspect="1"/>
          </p:cNvPicPr>
          <p:nvPr/>
        </p:nvPicPr>
        <p:blipFill>
          <a:blip r:embed="rId1"/>
          <a:srcRect l="0" r="0" t="-57" b="-57"/>
          <a:stretch/>
        </p:blipFill>
        <p:spPr>
          <a:xfrm>
            <a:off x="6934200" y="1564580"/>
            <a:ext cx="4445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Visión II: muebles y testimonios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18555"/>
            <a:ext cx="5124450" cy="3240683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926530"/>
            <a:ext cx="464375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MUEBLES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3950" y="2284611"/>
            <a:ext cx="46437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MobileNetV3 + similitud coseno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02182" y="2746871"/>
            <a:ext cx="4557903" cy="182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Celda vacía si la desviación de grises es menor a 14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de 576 valores de una red preentrenada en ImageNet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compara con 6 plantillas; gana la más parecida (coseno ≥ 0,45)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entrenar nada: un mueble nuevo es una imagen más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618555"/>
            <a:ext cx="5124450" cy="3240683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9550" y="1926530"/>
            <a:ext cx="464375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TARJETAS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9550" y="2284611"/>
            <a:ext cx="46437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Tesseract + parser por reglas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37782" y="2746871"/>
            <a:ext cx="4557903" cy="182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OCR por tarjeta: ampliar ×2, Otsu, modelo en español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Reglas: «al norte de Ana», «segunda columna», «no estaba al lado de una mesa»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Nombres con coincidencia difusa para tolerar errores de OCR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local solo de respaldo; no hizo falta en los 10 casos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Métricas de la visión en 10 casos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40551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547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98,5 %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199580"/>
            <a:ext cx="40551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precisión en muebles (133 de 135)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677021"/>
            <a:ext cx="40551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547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99,3 %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2800" y="3312021"/>
            <a:ext cx="40551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recall en muebles (133 de 134)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789462"/>
            <a:ext cx="40551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12800" y="4424462"/>
            <a:ext cx="40551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N, nombres, pistas y culpable correctos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6200" y="1564580"/>
            <a:ext cx="6223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10" name="Image 0" descr="Mapa de calor de calidad de extracción por caso: salas, precisión y recall de muebles, nombres y pis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00" y="1564580"/>
            <a:ext cx="5233599" cy="406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Errores: caso 04 nombra mal las salas; caso 10 difiere porque la imagen dibuja muebles en otras celdas que el catálogo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Robustez: 110 imágenes, 11 condiciones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480"/>
          <a:ext cx="6261100" cy="3233440"/>
        </p:xfrm>
        <a:graphic>
          <a:graphicData uri="http://schemas.openxmlformats.org/drawingml/2006/table">
            <a:tbl>
              <a:tblPr/>
              <a:tblGrid>
                <a:gridCol w="2504440"/>
                <a:gridCol w="1252220"/>
                <a:gridCol w="1252220"/>
                <a:gridCol w="125222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Condición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Recall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Original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0,993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Clara / contraste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0,993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JPEG q25 / escala 0,5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0,993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Desenfoque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0,963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0,970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Ruido σ=20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0,955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Oscura (baja)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0,843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Rotación 2° (baja)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0,869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0,993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Rotación 5° (baja)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0,797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0,715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0,918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2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uatro variantes de la imagen: oscura, desenfocada, con ruido y rotada 5 grados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7442200" y="1513780"/>
            <a:ext cx="3937000" cy="2222500"/>
          </a:xfrm>
          <a:prstGeom prst="roundRect">
            <a:avLst>
              <a:gd name="adj" fmla="val 3429"/>
            </a:avLst>
          </a:prstGeom>
        </p:spPr>
      </p:pic>
      <p:sp>
        <p:nvSpPr>
          <p:cNvPr id="5" name="Text 1"/>
          <p:cNvSpPr/>
          <p:nvPr/>
        </p:nvSpPr>
        <p:spPr>
          <a:xfrm>
            <a:off x="7442200" y="3914080"/>
            <a:ext cx="40551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Poca luz:</a:t>
            </a: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umbral fijo pierde muebles. </a:t>
            </a:r>
            <a:r>
              <a:rPr lang="en-US" sz="14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Rotación:</a:t>
            </a: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 corrección de perspectiva, la malla se desfasa.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Modelo CP: variables y dominios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10553700" cy="2476500"/>
        </p:xfrm>
        <a:graphic>
          <a:graphicData uri="http://schemas.openxmlformats.org/drawingml/2006/table">
            <a:tbl>
              <a:tblPr/>
              <a:tblGrid>
                <a:gridCol w="2321814"/>
                <a:gridCol w="2955036"/>
                <a:gridCol w="52768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Dominio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Significado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7C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b[p,r,c]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{0, 1}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si la persona p ocupa la celda (r, c)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X[p]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{0 … N−1}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fila de 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Y[p]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{0 … N−1}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columna de 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Z[p]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 de salas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habitación de 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ℓ[k]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{0, 1}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literal que activa la pista 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358580"/>
            <a:ext cx="10464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Canalización: </a:t>
            </a:r>
            <a:r>
              <a:rPr lang="en-US" sz="160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X[p] = Σ r·b[p,r,c]</a:t>
            </a:r>
            <a:r>
              <a:rPr lang="en-US" sz="16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igual para Y y Z con el mapa de salas. La matriz booleana sirve para las pistas de muebles; las enteras, para filas, columnas y direcciones.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OR-Tools CP-SAT · todos los parámetros vienen de puzzle_data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Restricciones del modelo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80"/>
            <a:ext cx="5207000" cy="1226641"/>
          </a:xfrm>
          <a:prstGeom prst="roundRect">
            <a:avLst>
              <a:gd name="adj" fmla="val 828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1698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C1 · GLOBAL (SUM)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1993801"/>
            <a:ext cx="49446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Σ b[p,r,c] = 1 ∀p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306141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persona en una sola celda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13780"/>
            <a:ext cx="5207000" cy="1226641"/>
          </a:xfrm>
          <a:prstGeom prst="roundRect">
            <a:avLst>
              <a:gd name="adj" fmla="val 828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71698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C2–C3 · GLOBAL (ALLDIFFERENT)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400" y="1993801"/>
            <a:ext cx="49446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AllDifferent(X), AllDifferent(Y)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5400" y="2306141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at-most-one por fila y columna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2892822"/>
            <a:ext cx="5207000" cy="1226641"/>
          </a:xfrm>
          <a:prstGeom prst="roundRect">
            <a:avLst>
              <a:gd name="adj" fmla="val 828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096022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C4–C5 · ELEMENT Y OBSTÁCULOS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6000" y="3372842"/>
            <a:ext cx="49446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Z[p] = ρ(celda(p)) · b = 0 en 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3685183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sala de cada persona; no pisar muebles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892822"/>
            <a:ext cx="5207000" cy="1226641"/>
          </a:xfrm>
          <a:prstGeom prst="roundRect">
            <a:avLst>
              <a:gd name="adj" fmla="val 8283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6375400" y="3096022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E895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C6 · REIFICADA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5400" y="3372842"/>
            <a:ext cx="49446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ν[h] ⇒ Σ σ[s,h] =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5400" y="3685183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víctima en h ⇒ un solo sospechoso en 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37346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C7 · Pistas:</a:t>
            </a: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Y=j, Z=h, X[p]&lt;X[q] (norte), sumas sobre muebles o sus vecinos para «sobre» y «al lado».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Reificación: dónde y por qué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2847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95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301180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Regla del asesino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763441"/>
            <a:ext cx="52847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 de una decisión del modelo: en qué sala está la víctima. No puede ser una restricción fija.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8400" y="1564580"/>
            <a:ext cx="52847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895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248400" y="2301180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Pistas: ℓ[k] ⇒ R[k]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48400" y="2763441"/>
            <a:ext cx="52847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resolver se fijan en 1. En el tutor van como supuestos y CP-SAT devuelve qué testimonios contradice el jugador.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620691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pistas no se reifican en ambos sentidos: nunca hace falta deducir que una pista es falsa.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Complejidad y tiempos del solver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3380284" cy="1316831"/>
          </a:xfrm>
          <a:prstGeom prst="roundRect">
            <a:avLst>
              <a:gd name="adj" fmla="val 7474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30"/>
            <a:ext cx="295191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47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9–22 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3150" y="2378571"/>
            <a:ext cx="29519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caso, en un i5-6500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567755"/>
            <a:ext cx="3380383" cy="1316831"/>
          </a:xfrm>
          <a:prstGeom prst="roundRect">
            <a:avLst>
              <a:gd name="adj" fmla="val 7474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24930"/>
            <a:ext cx="295201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47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ramas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62984" y="2378571"/>
            <a:ext cx="29520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propagación sola fija todo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41" y="1567755"/>
            <a:ext cx="3380284" cy="1316831"/>
          </a:xfrm>
          <a:prstGeom prst="roundRect">
            <a:avLst>
              <a:gd name="adj" fmla="val 7474"/>
            </a:avLst>
          </a:prstGeom>
          <a:solidFill>
            <a:srgbClr val="FFFFFF"/>
          </a:solidFill>
          <a:ln w="6350">
            <a:solidFill>
              <a:srgbClr val="D6D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24930"/>
            <a:ext cx="295191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47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52916" y="2378571"/>
            <a:ext cx="29519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solución única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3920" y="3192562"/>
            <a:ext cx="1080465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sin reglas: 36⁶ ≈ 2,2 × 10⁹ ubicaciones; con filas y columnas distintas, (6!)² = 518 400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pistas quedan 7 680 a 123 840 soluciones en 6×6; las pistas las reducen a una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Tamaño del modelo O(|P|·N²): 260 variables en La Tienda; solo 3 de sus 8 pistas son imprescindibles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 hasta 30×30 en unos 10 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62980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4×4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54200" y="1464171"/>
            <a:ext cx="2540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1462980"/>
            <a:ext cx="553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1757561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6×6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54200" y="1758752"/>
            <a:ext cx="2540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1757561"/>
            <a:ext cx="553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 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2052141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8×8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54200" y="2053332"/>
            <a:ext cx="4445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1" name="Text 9"/>
          <p:cNvSpPr/>
          <p:nvPr/>
        </p:nvSpPr>
        <p:spPr>
          <a:xfrm>
            <a:off x="2051050" y="2052141"/>
            <a:ext cx="553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72 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346722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10×10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54200" y="2347913"/>
            <a:ext cx="8890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2095500" y="2346722"/>
            <a:ext cx="6728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146 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2641302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12×12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54200" y="2642493"/>
            <a:ext cx="17780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7" name="Text 15"/>
          <p:cNvSpPr/>
          <p:nvPr/>
        </p:nvSpPr>
        <p:spPr>
          <a:xfrm>
            <a:off x="2184400" y="2641302"/>
            <a:ext cx="6728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302 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2935883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15×15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54200" y="2937073"/>
            <a:ext cx="46355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0" name="Text 18"/>
          <p:cNvSpPr/>
          <p:nvPr/>
        </p:nvSpPr>
        <p:spPr>
          <a:xfrm>
            <a:off x="2470150" y="2935883"/>
            <a:ext cx="4349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0,8 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3230463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20×20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54200" y="3231654"/>
            <a:ext cx="180975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3816350" y="3230463"/>
            <a:ext cx="4349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3,0 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525044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25×25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54200" y="3526234"/>
            <a:ext cx="3536950" cy="2286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6" name="Text 24"/>
          <p:cNvSpPr/>
          <p:nvPr/>
        </p:nvSpPr>
        <p:spPr>
          <a:xfrm>
            <a:off x="5543550" y="3525044"/>
            <a:ext cx="4349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5,9 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3819624"/>
            <a:ext cx="939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30×30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54200" y="3820815"/>
            <a:ext cx="6350000" cy="228600"/>
          </a:xfrm>
          <a:prstGeom prst="rect">
            <a:avLst/>
          </a:prstGeom>
          <a:solidFill>
            <a:srgbClr val="B5471F"/>
          </a:solidFill>
          <a:ln/>
        </p:spPr>
      </p:sp>
      <p:sp>
        <p:nvSpPr>
          <p:cNvPr id="29" name="Text 27"/>
          <p:cNvSpPr/>
          <p:nvPr/>
        </p:nvSpPr>
        <p:spPr>
          <a:xfrm>
            <a:off x="8356600" y="3819624"/>
            <a:ext cx="22033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10,6 s · 27 181 variables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Instancias sintéticas con N personas y 3 salas · tiempo total de construcción y resolución, media de 10 ejecuciones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Demo: de la foto a la solución</a:t>
            </a:r>
            <a:endParaRPr lang="en-US" sz="3200" dirty="0"/>
          </a:p>
        </p:txBody>
      </p:sp>
      <p:pic>
        <p:nvPicPr>
          <p:cNvPr id="3" name="Image 0" descr="Caso 09, tablero 8x8 resuelto con las personas ubicadas y la asesina Irene marcada en roj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93" y="1513780"/>
            <a:ext cx="4069613" cy="4064000"/>
          </a:xfrm>
          <a:custGeom>
            <a:avLst/>
            <a:gdLst/>
            <a:ahLst/>
            <a:cxnLst/>
            <a:rect l="l" t="t" r="r" b="b"/>
            <a:pathLst>
              <a:path w="4069613" h="4064000">
                <a:moveTo>
                  <a:pt x="0" y="8599"/>
                </a:moveTo>
                <a:arcTo wR="101600" hR="101600" stAng="14775460" swAng="1424540"/>
                <a:lnTo>
                  <a:pt x="4028707" y="0"/>
                </a:lnTo>
                <a:arcTo wR="101600" hR="101600" stAng="16200000" swAng="1424540"/>
                <a:lnTo>
                  <a:pt x="4069613" y="4055401"/>
                </a:lnTo>
                <a:arcTo wR="101600" hR="101600" stAng="3975460" swAng="1424540"/>
                <a:lnTo>
                  <a:pt x="40907" y="4064000"/>
                </a:lnTo>
                <a:arcTo wR="101600" hR="101600" stAng="5400000" swAng="1424540"/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5410200" y="1513780"/>
            <a:ext cx="5969000" cy="88900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 wrap="square" lIns="155482" tIns="155482" rIns="0" bIns="1300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main.py --caso caso_09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app.py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1320" y="2580580"/>
            <a:ext cx="606933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solución se dibuja sobre la imagen original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b="1" dirty="0">
                <a:solidFill>
                  <a:srgbClr val="B547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Rojo</a:t>
            </a: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asesino · gris: víctima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Web: galería de casos, resolver y modo tutor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D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Tutor: valida jugadas y da pistas en 3 niveles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3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E895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LOGRAMOS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0458" y="1973461"/>
            <a:ext cx="5167122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sin pasos manuales</a:t>
            </a:r>
            <a:endParaRPr lang="en-US" sz="1600" dirty="0"/>
          </a:p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Culpable correcto en 10 de 10 casos</a:t>
            </a:r>
            <a:endParaRPr lang="en-US" sz="1600" dirty="0"/>
          </a:p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parametrizado con globales y reificadas</a:t>
            </a:r>
            <a:endParaRPr lang="en-US" sz="1600" dirty="0"/>
          </a:p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Solver en milisegundos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99200" y="16153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E895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MEJORAR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6858" y="1973461"/>
            <a:ext cx="5167122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Corrección de perspectiva</a:t>
            </a:r>
            <a:endParaRPr lang="en-US" sz="1600" dirty="0"/>
          </a:p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 adaptativo para poca luz</a:t>
            </a:r>
            <a:endParaRPr lang="en-US" sz="1600" dirty="0"/>
          </a:p>
          <a:p>
            <a:pPr algn="l" marL="196342" indent="-19634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Fotos reales de versiones impresas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507383"/>
            <a:ext cx="981075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cuello de botella no es el solver: es la percepción.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rdoku End-to-End">
  <a:themeElements>
    <a:clrScheme name="Murdoku End-to-End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B5471F"/>
      </a:accent1>
      <a:accent2>
        <a:srgbClr val="2F6DB5"/>
      </a:accent2>
      <a:accent3>
        <a:srgbClr val="E8955F"/>
      </a:accent3>
      <a:accent4>
        <a:srgbClr val="3D4656"/>
      </a:accent4>
      <a:accent5>
        <a:srgbClr val="C9D3E3"/>
      </a:accent5>
      <a:accent6>
        <a:srgbClr val="6B7280"/>
      </a:accent6>
      <a:hlink>
        <a:srgbClr val="0563C1"/>
      </a:hlink>
      <a:folHlink>
        <a:srgbClr val="954F72"/>
      </a:folHlink>
    </a:clrScheme>
    <a:fontScheme name="Murdoku End-to-End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Murdoku End-to-End</dc:title>
  <dc:subject/>
  <dc:creator/>
  <cp:lastModifiedBy/>
  <cp:revision>1</cp:revision>
  <dcterms:created xsi:type="dcterms:W3CDTF">2026-10-06T20:35:42Z</dcterms:created>
  <dcterms:modified xsi:type="dcterms:W3CDTF">2026-10-06T20:35:42Z</dcterms:modified>
</cp:coreProperties>
</file>